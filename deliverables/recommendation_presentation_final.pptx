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e3eebb1fa74979" /><Relationship Type="http://schemas.openxmlformats.org/officeDocument/2006/relationships/extended-properties" Target="/docProps/app.xml" Id="Rea6ba4c001c64de6" /><Relationship Type="http://schemas.openxmlformats.org/officeDocument/2006/relationships/officeDocument" Target="/ppt/presentation.xml" Id="Reac6a4bae8ef4c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b6e3afbec14e12"/>
  </p:sldMasterIdLst>
  <p:notesMasterIdLst>
    <p:notesMasterId xmlns:r="http://schemas.openxmlformats.org/officeDocument/2006/relationships" r:id="Rf89bac228a434e09"/>
  </p:notesMasterIdLst>
  <p:sldIdLst>
    <p:sldId xmlns:r="http://schemas.openxmlformats.org/officeDocument/2006/relationships" id="256" r:id="Rdc57a96ad2584512"/>
    <p:sldId xmlns:r="http://schemas.openxmlformats.org/officeDocument/2006/relationships" id="257" r:id="R92fda57f8ea64980"/>
    <p:sldId xmlns:r="http://schemas.openxmlformats.org/officeDocument/2006/relationships" id="258" r:id="Rcd424f5d84804c3c"/>
    <p:sldId xmlns:r="http://schemas.openxmlformats.org/officeDocument/2006/relationships" id="259" r:id="R756959c0a9f443ce"/>
    <p:sldId xmlns:r="http://schemas.openxmlformats.org/officeDocument/2006/relationships" id="260" r:id="Ra8aa08f1a81c4efd"/>
    <p:sldId xmlns:r="http://schemas.openxmlformats.org/officeDocument/2006/relationships" id="261" r:id="Rd466dbdfb60c4b5f"/>
    <p:sldId xmlns:r="http://schemas.openxmlformats.org/officeDocument/2006/relationships" id="262" r:id="R59b96ec3bb614cd1"/>
    <p:sldId xmlns:r="http://schemas.openxmlformats.org/officeDocument/2006/relationships" id="263" r:id="R41d39f5ffd154750"/>
    <p:sldId xmlns:r="http://schemas.openxmlformats.org/officeDocument/2006/relationships" id="264" r:id="R6ee8d98cc6434232"/>
    <p:sldId xmlns:r="http://schemas.openxmlformats.org/officeDocument/2006/relationships" id="265" r:id="Rd204ec4559eb4bdf"/>
    <p:sldId xmlns:r="http://schemas.openxmlformats.org/officeDocument/2006/relationships" id="266" r:id="R2d88c9e8cecd4e18"/>
    <p:sldId xmlns:r="http://schemas.openxmlformats.org/officeDocument/2006/relationships" id="267" r:id="R46aa14e5bd3c424b"/>
    <p:sldId xmlns:r="http://schemas.openxmlformats.org/officeDocument/2006/relationships" id="268" r:id="R532eac469f9d4e05"/>
    <p:sldId xmlns:r="http://schemas.openxmlformats.org/officeDocument/2006/relationships" id="269" r:id="R24ec7caef51043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edf02c29d54148" /><Relationship Type="http://schemas.openxmlformats.org/officeDocument/2006/relationships/slideMaster" Target="/ppt/slideMasters/slideMaster1.xml" Id="R72b6e3afbec14e12" /><Relationship Type="http://schemas.openxmlformats.org/officeDocument/2006/relationships/notesMaster" Target="/ppt/notesMasters/notesMaster1.xml" Id="Rf89bac228a434e09" /><Relationship Type="http://schemas.openxmlformats.org/officeDocument/2006/relationships/presProps" Target="/ppt/presProps.xml" Id="Ra46d603bbeec488d" /><Relationship Type="http://schemas.openxmlformats.org/officeDocument/2006/relationships/tableStyles" Target="/ppt/tableStyles.xml" Id="R355d1214cd8943f2" /><Relationship Type="http://schemas.openxmlformats.org/officeDocument/2006/relationships/slide" Target="/ppt/slides/slide1.xml" Id="Rdc57a96ad2584512" /><Relationship Type="http://schemas.openxmlformats.org/officeDocument/2006/relationships/slide" Target="/ppt/slides/slide2.xml" Id="R92fda57f8ea64980" /><Relationship Type="http://schemas.openxmlformats.org/officeDocument/2006/relationships/slide" Target="/ppt/slides/slide3.xml" Id="Rcd424f5d84804c3c" /><Relationship Type="http://schemas.openxmlformats.org/officeDocument/2006/relationships/slide" Target="/ppt/slides/slide4.xml" Id="R756959c0a9f443ce" /><Relationship Type="http://schemas.openxmlformats.org/officeDocument/2006/relationships/slide" Target="/ppt/slides/slide5.xml" Id="Ra8aa08f1a81c4efd" /><Relationship Type="http://schemas.openxmlformats.org/officeDocument/2006/relationships/slide" Target="/ppt/slides/slide6.xml" Id="Rd466dbdfb60c4b5f" /><Relationship Type="http://schemas.openxmlformats.org/officeDocument/2006/relationships/slide" Target="/ppt/slides/slide7.xml" Id="R59b96ec3bb614cd1" /><Relationship Type="http://schemas.openxmlformats.org/officeDocument/2006/relationships/slide" Target="/ppt/slides/slide8.xml" Id="R41d39f5ffd154750" /><Relationship Type="http://schemas.openxmlformats.org/officeDocument/2006/relationships/slide" Target="/ppt/slides/slide9.xml" Id="R6ee8d98cc6434232" /><Relationship Type="http://schemas.openxmlformats.org/officeDocument/2006/relationships/slide" Target="/ppt/slides/slide10.xml" Id="Rd204ec4559eb4bdf" /><Relationship Type="http://schemas.openxmlformats.org/officeDocument/2006/relationships/slide" Target="/ppt/slides/slide11.xml" Id="R2d88c9e8cecd4e18" /><Relationship Type="http://schemas.openxmlformats.org/officeDocument/2006/relationships/slide" Target="/ppt/slides/slide12.xml" Id="R46aa14e5bd3c424b" /><Relationship Type="http://schemas.openxmlformats.org/officeDocument/2006/relationships/slide" Target="/ppt/slides/slide13.xml" Id="R532eac469f9d4e05" /><Relationship Type="http://schemas.openxmlformats.org/officeDocument/2006/relationships/slide" Target="/ppt/slides/slide14.xml" Id="R24ec7caef510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684ab0009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5e0ff3848c441d" /><Relationship Type="http://schemas.openxmlformats.org/officeDocument/2006/relationships/notesMaster" Target="/ppt/notesMasters/notesMaster1.xml" Id="R678025e98b9849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5ad140a7d24c4e" /><Relationship Type="http://schemas.openxmlformats.org/officeDocument/2006/relationships/notesMaster" Target="/ppt/notesMasters/notesMaster1.xml" Id="Ra8378f98a04945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f8f52ac56a43d3" /><Relationship Type="http://schemas.openxmlformats.org/officeDocument/2006/relationships/notesMaster" Target="/ppt/notesMasters/notesMaster1.xml" Id="R7d04654ce267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4c75b05fc542d7" /><Relationship Type="http://schemas.openxmlformats.org/officeDocument/2006/relationships/notesMaster" Target="/ppt/notesMasters/notesMaster1.xml" Id="R110dbe6a98624d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2b2e9bf1a44c2c" /><Relationship Type="http://schemas.openxmlformats.org/officeDocument/2006/relationships/notesMaster" Target="/ppt/notesMasters/notesMaster1.xml" Id="R12819507c7bf42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481ec4e5024725" /><Relationship Type="http://schemas.openxmlformats.org/officeDocument/2006/relationships/notesMaster" Target="/ppt/notesMasters/notesMaster1.xml" Id="R370265ddffe74b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a1d1910a7446f5" /><Relationship Type="http://schemas.openxmlformats.org/officeDocument/2006/relationships/notesMaster" Target="/ppt/notesMasters/notesMaster1.xml" Id="R8d4587aaa55640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44889baec4409c" /><Relationship Type="http://schemas.openxmlformats.org/officeDocument/2006/relationships/notesMaster" Target="/ppt/notesMasters/notesMaster1.xml" Id="R81146c61aea44c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1035214e274f72" /><Relationship Type="http://schemas.openxmlformats.org/officeDocument/2006/relationships/notesMaster" Target="/ppt/notesMasters/notesMaster1.xml" Id="R9f605ec2dc284f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c72bb55101442c" /><Relationship Type="http://schemas.openxmlformats.org/officeDocument/2006/relationships/notesMaster" Target="/ppt/notesMasters/notesMaster1.xml" Id="Rc3ccd250eef24b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cd52315c2b4c7d" /><Relationship Type="http://schemas.openxmlformats.org/officeDocument/2006/relationships/notesMaster" Target="/ppt/notesMasters/notesMaster1.xml" Id="R8708a406519e4b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3b04a5639042e7" /><Relationship Type="http://schemas.openxmlformats.org/officeDocument/2006/relationships/notesMaster" Target="/ppt/notesMasters/notesMaster1.xml" Id="R9f476988011042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ff9ed32233461e" /><Relationship Type="http://schemas.openxmlformats.org/officeDocument/2006/relationships/notesMaster" Target="/ppt/notesMasters/notesMaster1.xml" Id="Ra047e2a342c44f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8bc1e32e8c4451" /><Relationship Type="http://schemas.openxmlformats.org/officeDocument/2006/relationships/notesMaster" Target="/ppt/notesMasters/notesMaster1.xml" Id="Rd8e61bc1a1b746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based on the Kaggle electronics-store purchase-history dataset. Source: https://www.kaggle.com/datasets/mkechinov/ecommerce-purchase-history-from-electronics-store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Kazakhstan’s official statistics report ecommerce growth and continued expansion of online retail. Sources: https://stat.gov.kz/en/industries/labor-and-income/stat-ags/publications/159348/ ; https://www.gov.kz/org/mti/press/news/details/1277488?lang=en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sources: Necula &amp; Păvăloaia (2023), https://doi.org/10.3390/app13095531 ; Zangerle &amp; Bauer (2022), https://doi.org/10.1145/3556536 ; Chen et al. (2023), https://doi.org/10.1145/3522672 ; Hidasi &amp; Czapp (2023), https://doi.org/10.1145/3604915.3608839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Kechinov, eCommerce purchase history from electronics store, Kaggle. https://www.kaggle.com/datasets/mkechinov/ecommerce-purchase-history-from-electronics-store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and negative sampling are derived from the Kaggle transaction file. Source: https://www.kaggle.com/datasets/mkechinov/ecommerce-purchase-history-from-electronics-store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engineering uses events strictly before 2020-09-01; candidate target-period outcomes are excluded from feature construction. Dataset source: https://www.kaggle.com/datasets/mkechinov/ecommerce-purchase-history-from-electronics-store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 implementations: scikit-learn, XGBoost, LightGBM, and CatBoost. Python package versions and reproducible parameters are recorded in requirements.txt and recommendation_benchmark.py.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RMSE over 10 user-grouped folds; lower is better. Error bars are not displayed here; standard deviations by fold are provided in results/model_results.csv.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are 10-fold means from results/model_results.json. NDCG@10 and HitRate@10 use sampled candidates within each held-out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results: results/model_results.json and results/model_results.csv. Metrics were computed using the study’s sampled candidate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Kaggle dataset linked on slides 1 and 4. Protocol and caveats are documented in the manuscript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conclusions are based on the fixed benchmark run in results/model_results.json.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bibliography of 15 sources is included in the research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list in research_paper.docx; links and access details are recorded there.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cf95ae2ad41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c89d3146a4f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75c59cc2a44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0673c31fc4b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892fe51dd47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fa610c68e4d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3D1518-1518-45C8-BF0F-62E881759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0B3D22-432A-4CBB-9CAB-4224173174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4E7EDC-AA6B-4BD9-BA86-7CD1EA9BE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87A35F-E15B-417F-A8CF-18A84971BF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D0D280-F55B-4DCC-B3F9-88EB81CF03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67B4F8-F46C-486D-941B-2CAD9259C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3F18F3-D11B-4CD0-B3B2-61BD789AC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249CA2-D631-4E34-BED1-9763065917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34FE6-03EA-4908-B8EC-3DE9116A9A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FDE92-7E0E-4F67-89DE-D523687579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c2484606944a5a" /><Relationship Type="http://schemas.openxmlformats.org/officeDocument/2006/relationships/slideLayout" Target="/ppt/slideLayouts/slideLayout1.xml" Id="R85b98cef6c544f20" /><Relationship Type="http://schemas.openxmlformats.org/officeDocument/2006/relationships/slideLayout" Target="/ppt/slideLayouts/slideLayout2.xml" Id="Ra66c3ed82dd248c6" /><Relationship Type="http://schemas.openxmlformats.org/officeDocument/2006/relationships/slideLayout" Target="/ppt/slideLayouts/slideLayout3.xml" Id="Rf4f03e4a09e34707" /><Relationship Type="http://schemas.openxmlformats.org/officeDocument/2006/relationships/slideLayout" Target="/ppt/slideLayouts/slideLayout4.xml" Id="R07f9542e722948f6" /><Relationship Type="http://schemas.openxmlformats.org/officeDocument/2006/relationships/slideLayout" Target="/ppt/slideLayouts/slideLayout5.xml" Id="R05a2cc3d01b04af7" /><Relationship Type="http://schemas.openxmlformats.org/officeDocument/2006/relationships/slideLayout" Target="/ppt/slideLayouts/slideLayout6.xml" Id="R61e4134be1a847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98cef6c544f20"/>
    <p:sldLayoutId xmlns:r="http://schemas.openxmlformats.org/officeDocument/2006/relationships" id="2147483650" r:id="Ra66c3ed82dd248c6"/>
    <p:sldLayoutId xmlns:r="http://schemas.openxmlformats.org/officeDocument/2006/relationships" id="2147483651" r:id="Rf4f03e4a09e34707"/>
    <p:sldLayoutId xmlns:r="http://schemas.openxmlformats.org/officeDocument/2006/relationships" id="2147483652" r:id="R07f9542e722948f6"/>
    <p:sldLayoutId xmlns:r="http://schemas.openxmlformats.org/officeDocument/2006/relationships" id="2147483653" r:id="R05a2cc3d01b04af7"/>
    <p:sldLayoutId xmlns:r="http://schemas.openxmlformats.org/officeDocument/2006/relationships" id="2147483654" r:id="R61e4134be1a847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4b9ae66db4965" /><Relationship Type="http://schemas.openxmlformats.org/officeDocument/2006/relationships/notesSlide" Target="/ppt/notesSlides/notesSlide1.xml" Id="Rc9e2f0ad66a741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1471c239d4718" /><Relationship Type="http://schemas.openxmlformats.org/officeDocument/2006/relationships/notesSlide" Target="/ppt/notesSlides/notesSlide2.xml" Id="R4d80c095d1294b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fe93e0f20467e" /><Relationship Type="http://schemas.openxmlformats.org/officeDocument/2006/relationships/notesSlide" Target="/ppt/notesSlides/notesSlide3.xml" Id="Re7793a720cb0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206b775204956" /><Relationship Type="http://schemas.openxmlformats.org/officeDocument/2006/relationships/notesSlide" Target="/ppt/notesSlides/notesSlide4.xml" Id="Rb332714e61bb4f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6149e7ba545d5" /><Relationship Type="http://schemas.openxmlformats.org/officeDocument/2006/relationships/notesSlide" Target="/ppt/notesSlides/notesSlide5.xml" Id="Re333ee8dc24949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b71da30aa420e" /><Relationship Type="http://schemas.openxmlformats.org/officeDocument/2006/relationships/notesSlide" Target="/ppt/notesSlides/notesSlide6.xml" Id="Rbb70e459181c45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acbc0147c4249" /><Relationship Type="http://schemas.openxmlformats.org/officeDocument/2006/relationships/notesSlide" Target="/ppt/notesSlides/notesSlide7.xml" Id="R0cb91082b2db45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dae1c6d294a61" /><Relationship Type="http://schemas.openxmlformats.org/officeDocument/2006/relationships/notesSlide" Target="/ppt/notesSlides/notesSlide8.xml" Id="R101b0bce15b140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6273ab66e4291" /><Relationship Type="http://schemas.openxmlformats.org/officeDocument/2006/relationships/notesSlide" Target="/ppt/notesSlides/notesSlide9.xml" Id="R980571d00c544d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f37a9e5fa4983" /><Relationship Type="http://schemas.openxmlformats.org/officeDocument/2006/relationships/notesSlide" Target="/ppt/notesSlides/notesSlide10.xml" Id="Rc60cfbbbcafc47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b6d57ce1146a8" /><Relationship Type="http://schemas.openxmlformats.org/officeDocument/2006/relationships/notesSlide" Target="/ppt/notesSlides/notesSlide11.xml" Id="R72e246885c2043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3d9eaa9a745b1" /><Relationship Type="http://schemas.openxmlformats.org/officeDocument/2006/relationships/notesSlide" Target="/ppt/notesSlides/notesSlide12.xml" Id="R47ac7ebc20e043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fc37ad090400d" /><Relationship Type="http://schemas.openxmlformats.org/officeDocument/2006/relationships/notesSlide" Target="/ppt/notesSlides/notesSlide13.xml" Id="R7ff33e807aa641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5c28598cb4654" /><Relationship Type="http://schemas.openxmlformats.org/officeDocument/2006/relationships/notesSlide" Target="/ppt/notesSlides/notesSlide14.xml" Id="Re5098f7c243442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75879-5827-4E83-A8A0-3AEC74F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5CF33-9DE3-4921-A1CE-2FF5D471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8C203-F52C-4170-BEB2-CA6757A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ASSIGNMENT 1  / 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774FD-CA5D-4130-AB51-5F2899DE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239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5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Regression models for</a:t>
            </a:r>
          </a:p>
          <a:p xmlns:a="http://schemas.openxmlformats.org/drawingml/2006/main">
            <a:pPr>
              <a:defRPr sz="35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e-commerce product</a:t>
            </a:r>
          </a:p>
          <a:p xmlns:a="http://schemas.openxmlformats.org/drawingml/2006/main">
            <a:pPr>
              <a:defRPr sz="35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72409-7DB2-4919-A15F-477C7502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A Kazakhstan-related electronics purchase-history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C14BC-1A2A-4FC3-8261-6AB3F8AF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6210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0A4CE-D9BF-4517-98C5-68E23E26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339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11 models     •     14 features     •     10 user-grouped folds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ADC30-3864-43FE-A096-B64C6F1D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Prepared for Assignment 1  |  2026</a:t>
            </a:r>
          </a:p>
        </p:txBody>
      </p:sp>
    </p:spTree>
    <p:extLst>
      <p:ext uri="{BB962C8B-B14F-4D97-AF65-F5344CB8AC3E}">
        <p14:creationId xmlns:p14="http://schemas.microsoft.com/office/powerpoint/2010/main" val="1955504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104D5-02D7-4FDB-BFF0-2F96DCB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3C4D5-F1BC-4042-84FD-003CB96D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PROBLEM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B4DB7-D0CD-413D-8BF3-9CC0D8CE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Why recommendations matter 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CAA0B-CB24-4804-B64D-224BEC5B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24AD3-2330-469A-B686-3F7213DF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6AF38-B131-43AE-AAB4-7D5FC95F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A40AE-2AFB-4480-B4AF-DF456932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Research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911F4-FCFC-4BA4-9AA2-97DBE1F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714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How well can common regression models rank products a user is likely to purchase from historical implicit signals?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0783F-5CC9-4A06-AE31-19A2E27D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048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ED470-6B95-41EA-A405-29B3ECFC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KAZAKHSTAN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B9EA7-EDA7-48F1-82FE-3ACD1FFF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51175-DDF7-45D8-A95B-751B0E54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Online retail growth increases the value of relevant product discovery. A useful model should score candidate items from sparse behavioural histories.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D5130-B8C3-444C-A423-CF646FB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5048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97E1E-942E-437F-B59C-C56911F9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670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C6BA0-8BF1-4B5E-A331-F3176CB3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B6C6B-C667-4571-97F5-4A30630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7192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Across eleven required estimators, which yields the best held-out prediction and top-10 ranking under a user-grouped protocol?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C8003-E075-4622-9AE5-565B02A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rPr>
              <a:t>This is a model comparison, not a deployed end-to-end recommender.</a:t>
            </a:r>
          </a:p>
        </p:txBody>
      </p:sp>
    </p:spTree>
    <p:extLst>
      <p:ext uri="{BB962C8B-B14F-4D97-AF65-F5344CB8AC3E}">
        <p14:creationId xmlns:p14="http://schemas.microsoft.com/office/powerpoint/2010/main" val="247149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AE600-F767-49C6-BA48-4D687F25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1C70C-C006-475C-A2E6-E5D100E0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LITERATURE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CE201-86F7-4DF3-98B4-4B176E4D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What recent recommender research suggests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D0CD6-581E-4857-BCF6-F0AAAFD7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0E06E-10B6-4613-9C46-D64478FD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30D1A-7BC3-48E6-A7E8-37E996D9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0D653-8051-4B86-811B-411FB971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FBC6D-3811-49A0-B603-7B55B348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29825-E055-457C-86CA-8FCF40C6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Implicit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01B9E-7B7F-42CE-B80F-D03BCBE6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95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Purchases indicate preference, but missing interactions do not prove dislike. Negative sampling is a practical assumption that must be reported.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0DAB0-7EAE-4F74-8295-A6EB0B6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4B839-D440-4867-BEBE-4A63711F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76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556C4-26A7-4707-A7BA-CEA52D8C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Ranking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20905-9E7D-4077-AC7C-F3050603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Recommendation quality depends on which relevant items appear near the top. RMSE alone does not measure the ordering users see.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1D709-7528-427F-B283-CDEA448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EB85D-8147-47C7-BA3A-0AB3DFC5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D37F2-8360-431E-B42B-1205C376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Baseline discipline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90A5A-6390-43CC-B1FC-EC852F9C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295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Comparisons need common splits and careful protocol reporting. A benchmark result is conditional on data, features, and tuning.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C6D55-50BA-4F2F-BD32-AB462324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Focused search: 2021–2026 papers on recommender evaluation, implicit feedback, and e-commerce ML; not a registered systematic review.</a:t>
            </a:r>
          </a:p>
        </p:txBody>
      </p:sp>
    </p:spTree>
    <p:extLst>
      <p:ext uri="{BB962C8B-B14F-4D97-AF65-F5344CB8AC3E}">
        <p14:creationId xmlns:p14="http://schemas.microsoft.com/office/powerpoint/2010/main" val="716357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60058-DDAC-4410-9C43-1CF3BCE8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DF559-6AC9-4DAA-9006-CE66A734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MATERIALS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F41CF-E60B-4D55-AD89-18B2F3AE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Dataset: large event log, sparse usable identities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0645C-8C3B-4C11-BF71-779F32B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1FB3-3585-4BF5-BEC5-2DB9C745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D77AA-708B-4A8C-AAAB-A56B723E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FE8D2-0F8D-4338-A47D-17B0C63C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871CD-2E56-406E-B766-9DAA6429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2.63M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2E794-4B6A-491E-B450-2CE2F851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raw event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91268-4DBC-4593-8E7C-0122606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66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AA193-804E-4B08-A939-1CA87CAF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383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511,878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94E13-0E08-4C7A-958F-010AB07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47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valid user-item-price-time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6109D-51BF-45F5-94AC-4B02A02D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601AC-2DD1-4A95-AB8E-C8CFD5FA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121,536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46C7B-1796-49B0-84EF-0C59BDA2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historical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203A6-8F84-4E36-8705-60B2C03D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22EC0-4EFC-4933-9153-E0CD0660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383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15,678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721FA-4649-4161-8949-10A75300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historical 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102BD-5490-484D-AAB4-C1D3225C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50482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33C0C-214C-46A1-87E6-5014A5B8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TEMPORAL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0FC0A-7FAA-49D0-9DAA-3B32BCE7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Time split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E2C0E-ECF9-4E79-BE2C-B2E900A4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History: 1 Apr–31 Aug 2020</a:t>
            </a:r>
          </a:p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Cutoff: 1 Sep 2020</a:t>
            </a:r>
          </a:p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Later events: Sep–Nov 2020</a:t>
            </a:r>
          </a:p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History rows: 269,975</a:t>
            </a:r>
          </a:p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Later rows: 241,903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294B1-6BDB-49F8-BFF3-B6A1AFC6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50482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5BB08-31BB-4446-AAEB-780C56A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rPr>
              <a:t>CLEANING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FA67C-42C8-465F-A62D-DBC1797E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rPr>
              <a:t>Data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4AB03-F53A-408A-B23C-B7C84B5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2,069,352 raw rows lack a user ID. Price and category fields also contain missing values. Invalid timestamps and unusable rows are excluded.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D709E-8E4D-4079-8481-462ECF58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Regional relevance is suggested by the source extract; the dataset does not document city or price currency.</a:t>
            </a:r>
          </a:p>
        </p:txBody>
      </p:sp>
    </p:spTree>
    <p:extLst>
      <p:ext uri="{BB962C8B-B14F-4D97-AF65-F5344CB8AC3E}">
        <p14:creationId xmlns:p14="http://schemas.microsoft.com/office/powerpoint/2010/main" val="964681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3801F-0D42-4EB2-B4DF-B8FA33CB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54EE5-615B-45E5-9524-B08C5548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MATERIALS AND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30DE2-0E6A-47AF-9327-56E90FB8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Turning purchases into a learning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723C6-1C61-4D61-A769-DFE1BE75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AA1DE-7B79-4FBC-8004-A0A6D68D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D45E6-0117-434C-89D0-F4B4E0B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3A8EF-46BC-48AE-A3CC-38761698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24574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56420-8410-4190-AB3C-D587DCD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BB86E-8FD8-4660-8671-13D045D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95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C47EB-3F0B-478C-9E1E-5276006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Observed later purchase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E4F1D-CE49-463A-B64D-9F0200D5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label 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21EC7-E691-4A59-B5BD-B01D06C8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574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49132-2905-449E-8AAB-9E8711F8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28825"/>
            <a:ext cx="24574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569B4-0131-4440-A78C-12DA66EB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28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1DD41-9060-4E30-B0DC-D8EE371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95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79C27-6E0D-4A06-B08B-18A81171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9875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Sample unseen user–item 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864F2-ECAB-4708-9BAA-FCD8690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label = 0 (assumed)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4BC97-29ED-4C2F-B14E-C15D8D5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574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E3790-6C44-4ECD-AA39-082D767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28825"/>
            <a:ext cx="24574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F2744-7F83-41A2-B8E1-D333AE1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1DE3CF-E9A3-4A82-B4D4-1D2491C2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D026B-EFB9-44DF-95FF-50C2EDA0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Score candidates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3055B-26DE-469F-B970-09A02B5A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regression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FFFCC-6024-4A81-8819-7BB7D0DE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574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16E11-7302-431D-82FB-7909DCEB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28825"/>
            <a:ext cx="24574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3CAFE-299A-4DFB-B9CA-DE761AD2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28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569D4-6457-41CC-88AC-5AD1B0BC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95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26968-DD98-424F-B8B9-F14E27E9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9875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Sort per 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CFB91-BF90-4212-9D01-FC752611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top-10 ranking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5EF8B9-7214-435E-9653-988C4417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6,000 positive user–item pairs • 29,318 total candidate rows • up to 4 sampled negatives per positive • seed 42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03BB39-0545-464A-8572-CEE78D89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F0D4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11BD4E-DF60-47ED-A2FE-2174122A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984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rPr>
              <a:t>Interpretation: “not observed in the later window” is treated as negative for this benchmark; it is not verified user dislike.</a:t>
            </a:r>
          </a:p>
        </p:txBody>
      </p:sp>
    </p:spTree>
    <p:extLst>
      <p:ext uri="{BB962C8B-B14F-4D97-AF65-F5344CB8AC3E}">
        <p14:creationId xmlns:p14="http://schemas.microsoft.com/office/powerpoint/2010/main" val="2134990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D5F22-8952-46E7-9FF0-5E90DBB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056CC-2AC4-4E2E-840E-332E2DAF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MATERIALS AND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567BB-49DA-4F5F-BA39-12E387FC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Feature design uses only pre-cutoff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0D928-361E-4124-B854-A8647223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0DD2E-411C-4E10-8C29-BE8C05E0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BD5A2-7D76-45D2-81FC-8CA5531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CCFF1-A89E-4AA5-A6E2-2A12B786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276600" cy="347662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750A5-8257-4D4F-9F05-F6BA32F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USER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2CD05-7EF2-4658-83FC-0D1714A2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User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43BC1-4050-4574-889E-5D14997E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8956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Event count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Distinct products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Mean log price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Days since last event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User share by category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User share by brand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FACEB-85B6-4192-83FF-36BA1F5B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504950"/>
            <a:ext cx="3276600" cy="347662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B2E0C-0EBB-47BF-985B-F2ADEBFD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573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ITEM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BB5B2-BF90-48AF-A588-EFBD37F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240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Item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14532-6B75-4B38-AC56-D6994710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62200"/>
            <a:ext cx="28956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Event count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Distinct users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Item share by category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Item share by brand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Category ID and code</a:t>
            </a:r>
          </a:p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Brand and log 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3BEA8-121E-4CCC-82FF-D735E58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276600" cy="347662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167BC-5251-4180-A7F7-4F83319F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27745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77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745A"/>
                </a:solidFill>
                <a:latin typeface="Helvetica Neue"/>
                <a:ea typeface="Helvetica Neue"/>
                <a:cs typeface="Helvetica Neue"/>
              </a:rPr>
              <a:t>LEAKAGE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6D9B1-9329-4147-938D-9E881232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27745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77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745A"/>
                </a:solidFill>
                <a:latin typeface="Helvetica Neue"/>
                <a:ea typeface="Helvetica Neue"/>
                <a:cs typeface="Helvetica Neue"/>
              </a:rPr>
              <a:t>Protocol guardrails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435C1-D4D6-4904-807C-FB613374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956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Global time cutoff before outcomes</a:t>
            </a:r>
          </a:p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Whole users held out per fold</a:t>
            </a:r>
          </a:p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Same sampled candidates for every model</a:t>
            </a:r>
          </a:p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14 input features; one binary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5FB6D-2B32-4CD6-8AF1-68BC95F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The test estimates transfer to held-out users with earlier interaction histories—not new-user cold start.</a:t>
            </a:r>
          </a:p>
        </p:txBody>
      </p:sp>
    </p:spTree>
    <p:extLst>
      <p:ext uri="{BB962C8B-B14F-4D97-AF65-F5344CB8AC3E}">
        <p14:creationId xmlns:p14="http://schemas.microsoft.com/office/powerpoint/2010/main" val="633897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AC6D6-0898-4D15-BAC8-A2C06D4F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5E67B-999E-48C9-AC47-8ED5C578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0947D-7E85-4138-BC07-BB0841CC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Eleven regressors, evaluated on shared folds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01DDE-4792-4383-A5EB-44FE6DC2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7EFC3-E43D-4037-8DD3-8F87372A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01CCB-40AF-4F86-9A7E-23613D2A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D7DC6-FA85-45DD-BC13-B976195E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9EAB2-97E0-4365-9889-689FDAE4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MODEL FAMILY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40E99-17FF-4F8D-8697-5722C957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Linear regularization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8DDA-ECD7-46F1-A694-DF34F5D3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Ridge • Lasso • Elastic 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4D1E5-249B-42D5-8675-5C148D17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66850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AAE76-44A0-4259-B84A-24254511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MODEL FAMILY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E3DEA-1E4A-4405-83E0-1B614D0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Instance-based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260EA-4FC3-4ABF-9A5A-3420D41C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KNN Regression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30DBE-F5BD-4E6D-8269-83814861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5D614-6FBC-426A-93A2-E3D4EA7C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MODEL FAMILY 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5197A-C722-4A97-BE3F-AF9C536E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Tree ensembles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B2983-6327-4535-85C1-157325C9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Extra Trees • AdaBoost • Gradient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5E21F-DB36-4783-8625-F99383E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F31E9-C6BD-4386-A489-EFEB6C20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MODEL FAMILY 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77919-1EBD-4E37-9952-335DC654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Boosting libraries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C9000-18F1-4C17-A9DE-36CFCD1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XGBoost • LightGBM • CatBoost • HistGradientBoosting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F5844-DE47-4308-8F9F-C8029B9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2298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8F3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25085-48A6-49CD-9B41-BB45266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57800"/>
            <a:ext cx="976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10-fold GroupKFold by user   •   seed 42   •   RMSE + R²   •   NDCG@10 + HitRate@10</a:t>
            </a:r>
          </a:p>
        </p:txBody>
      </p:sp>
    </p:spTree>
    <p:extLst>
      <p:ext uri="{BB962C8B-B14F-4D97-AF65-F5344CB8AC3E}">
        <p14:creationId xmlns:p14="http://schemas.microsoft.com/office/powerpoint/2010/main" val="1473814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94AA51-55E7-42DF-B984-E60D190C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5B461-A681-4FDF-A151-DD4AD1A4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8D3B0-97FA-446D-9254-096449E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RMSE: boosted libraries lead this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F372F-DF91-471E-AC2D-30F4D8A6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37189-F25E-450D-AFD4-FD5B41B2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F125C-42FC-43DD-B106-66101AFB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451F9-F123-4B6A-B7ED-95DC6FB1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2397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10-fold mean RMSE • lower is better • displayed axis: 0.32–0.36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CB0CF-D8D2-4CAB-849D-3D1E2367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LightGBM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A9CA3-CAFB-4DE5-A821-6A6FE928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33550"/>
            <a:ext cx="234950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98316-7D8A-4CC4-8949-0C7CDB2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133" y="1714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0.3349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02416-65AC-4AC6-8D28-FBB46752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C38C0-2B49-4EFC-B3AA-AC25394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57400"/>
            <a:ext cx="235248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6B47C-1FF1-48D1-927F-E984C772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110" y="203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0.3350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88478-3AF4-41B6-BA48-D1E5EFC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CatBoost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B969A-5501-40DD-B21F-95F0CFE3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2493852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FD5C1-E449-427F-9194-F95AA10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477" y="2362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0.3359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EC156-10E6-46E1-B037-A281FCB5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HistGradientBoosting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114B1-2D0F-41F2-A6C4-5A4F3390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05100"/>
            <a:ext cx="2535997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9E94C-1F99-4347-9A32-305FF493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22" y="2686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0.3361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8FB79-8512-47F2-A64F-B7B3BD1C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Gradient Boosting 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8558E-3B94-4E57-8321-5E04FD7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28950"/>
            <a:ext cx="318674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828EC-289A-49E4-B098-A8E6FB97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365" y="3009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0.3403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B704C0-642A-4897-A102-E813CC4A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Ridge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4ECCA-FA38-4702-8749-4A31A81F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52800"/>
            <a:ext cx="3441852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B9FDD-10D1-4E41-BA15-D0C4CFA0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477" y="3333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0.3419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DE4DC-FB8C-4854-900F-473D9A99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Elastic Net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B9DC2-511C-42D4-883D-7E0C499F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76650"/>
            <a:ext cx="3474582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74329E-55FE-43D6-9466-D888F7B6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07" y="3657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0.3421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84DC7-A8C0-4DD5-B6BA-9F5F8243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Lasso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79150E-A025-4C6E-BE9A-339491E5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00500"/>
            <a:ext cx="367278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DD3D36-8C57-48B8-823B-05D381C7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413" y="3981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0.3434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3C021-2248-4905-80D0-BD538CDE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KNN Regression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D27ABE-8F15-48EC-800A-CF88E3CF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5275807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89F4E-7C3D-482E-976E-9BEBBAE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432" y="4305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0.3536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2160E3-261D-4FA2-8D7D-D425F066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Adaptive Boosting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7B296-69DA-4AC4-B64D-36FF5ADC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534150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F90B7D-8649-419E-B27D-032BED8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131" y="4629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0.3540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C01A9E-38BB-4F9C-8BD6-0A6604E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Extra Trees Regression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05F411-F641-470E-8B46-CB5150CE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72050"/>
            <a:ext cx="541509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B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884CD-609D-497D-9272-DE837DB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715" y="4953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0.3545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6F6612-6223-4FEE-B63A-84BF5FF7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43525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94E605-133F-4FD7-878D-5538BF38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41020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5CDB07-2351-478B-9121-3E85C00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41020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0.36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DC8EBD-B2D4-4ED1-A7C7-D9C83E3C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769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LightGBM 0.3349  |  XGBoost 0.3350  |  CatBoost 0.3359</a:t>
            </a:r>
          </a:p>
        </p:txBody>
      </p:sp>
    </p:spTree>
    <p:extLst>
      <p:ext uri="{BB962C8B-B14F-4D97-AF65-F5344CB8AC3E}">
        <p14:creationId xmlns:p14="http://schemas.microsoft.com/office/powerpoint/2010/main" val="868691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942832-39C7-42BF-9279-86A4FCB3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CE871-A5A1-4D10-A009-56B8249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847F2-364B-4AC3-967C-F9EA9309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The best model depends on the 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C62EB-16A3-49FB-A717-43DB911A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C4192-5469-4636-9857-12BC4274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00FB8-9B2A-4BBD-A384-11DD3F1A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E6F36-0D8B-405E-8646-92561419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525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7FDE4-4234-43BB-AFC6-AEAC06F7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A17D2-0F64-440B-ADFB-F71FBFD1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954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RMSE ± SD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ADBC-9A65-41BA-A65E-0307C6E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5135D-3873-4815-88F2-9EF7F038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954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NDCG@10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6D4A0-3D9E-427A-8CB6-8520849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10525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833A5-CE00-430C-A28E-6B263E07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LightGBM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D8DCA-2127-4C6B-B435-DB045FD8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38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0.3349 ± 0.0033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D07F2-B75B-4FAD-8E40-BF9D4F3C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383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60DA3-1C08-4540-BF6A-4EB38AC4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38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E946B-9526-4299-BD2E-CF85EDB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1A4F7-6CA8-44C7-8ABC-BD450FA3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90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0.3350 ± 0.0030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0B2C4-11BD-4AF9-B98E-F58A7808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90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79921-F6BD-498A-A7FE-B89AE547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6C59C-9045-4ED5-B8BF-5FC3E9AC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0525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9098A-21AB-4E04-BC2E-858DE9C4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CatBoost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E5738-23D9-48EC-9089-CE375904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43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0.3359 ± 0.0030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B865D-7016-4A57-A31E-A9EBFB07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43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747BA-CDB7-4B36-91D0-2C51B852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431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FF1D4-187A-4012-80C9-CC8D88D1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HistGradientBoosting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656DF-DA4F-4781-AA04-381752E7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0.3361 ± 0.0031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15512-53EF-4E82-B18B-A3F9DA64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0.239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6551F-754A-4739-A7D7-42496444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F43E12-99B6-4F84-8759-FB7302BF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10525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17DF3B-C9E4-4827-9554-0A5B19DE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Gradient Boosting Regression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ECF38-BB62-4C76-B72F-7253A265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48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0.3403 ± 0.0030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E87D21-E25C-407D-BA6B-C542E3D3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48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20D542-C59F-4D12-B5A7-284E6632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48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766097-C5EF-47BD-9D01-4A76DC8E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Ridge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777BA-3AED-4015-B30F-3A0647AA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00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0.3419 ± 0.0029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3CDCBB-D5E5-42F3-9F39-EE6276D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0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0.213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D838CA-49F7-4EA6-8CD2-EA7AD959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0.737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20B92B-B39F-4BEB-AC13-25593886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0525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5FE04D-76DA-4DF1-8D6A-DD398312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Elastic Net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E0A2F6-425D-4526-884F-7E6B96F9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528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0.3421 ± 0.0022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DFBF6E-A24E-4986-8B12-10A4C8D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52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6D77F8-4921-4433-BAF3-E53F126B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52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29B6A7-5E66-4A43-A8E1-8BFD2CE6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Lasso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03D12D-613A-4891-B1D4-7C0E6A00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0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0.3434 ± 0.0021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2716F3-E764-457D-849E-9DE65774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05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0.206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2BBB0F-F1D1-4F17-9E3A-E6F0CEAE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A1B7BF-E00A-4B77-A17B-10A6BFB2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525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810EE7-BBCA-4199-AEB2-37422EC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KNN Regression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AE68AE-63F4-4388-BBAF-B7504D4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57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0.3536 ± 0.0024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99B493-D669-4B9F-AF7A-4DB1259D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577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0.158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3048C8-F52F-4E6A-A7C4-B93E5D75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57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0.715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1247DE-EEAB-4E3D-A6D6-64378CD8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Adaptive Boosting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5EB47F-3715-491B-BF9F-336CDB2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10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0.3540 ± 0.0025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B8CDDB-099F-40EA-9315-A2853645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0.156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30872A-0D64-488C-8EE0-E61E14D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0.741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B7E0B5-D0B8-4A57-894F-C562EB98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10525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FAE284-2FC9-4FB5-B88F-201B9E4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625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Extra Trees Regression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7BB330-A85F-4D35-8C4E-78D83546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625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0.3545 ± 0.0032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C06E60-CBD0-4C77-804D-C7EB1B60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6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0.154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02C4B11-0D71-4357-A93E-BFB12752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625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0.722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10B179-8EF5-44A8-8E76-3FACCC32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LightGBM: lowest RMSE / highest R²  •  Gradient Boosting: highest NDCG@10 (0.747)</a:t>
            </a:r>
          </a:p>
        </p:txBody>
      </p:sp>
    </p:spTree>
    <p:extLst>
      <p:ext uri="{BB962C8B-B14F-4D97-AF65-F5344CB8AC3E}">
        <p14:creationId xmlns:p14="http://schemas.microsoft.com/office/powerpoint/2010/main" val="538876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2DA97F-621A-46A8-9EA0-5C0C5BE9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C8812-E3F1-418F-9244-C131BBEB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RESULTS AND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B3BDF-DC9A-47E6-B608-7E38B83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Error minimization and ranking are not identical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9B63-B226-4D23-AC96-7CEEBF7A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DE2FF-2DE9-4005-823B-ACAE5DF2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618B1-69BF-487F-BE75-5CAB22C3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A85D-F263-43DE-AE4E-7B423397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2952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309F9-0B95-4A2F-9030-52473670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497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0.3349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733B3-A0FF-4BE1-9C18-C82600DD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lowest mean RMSE: LightGBM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81790-39BC-475C-974D-CF80BB50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33525"/>
            <a:ext cx="2952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7F14C-33B2-4096-BCD5-7C1FEE9C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0497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0.2444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B4C95-C05C-4C7E-95E1-17B414C4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highest mean R²: LightGBM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C65C7-090F-4D5B-9A72-CC207786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33525"/>
            <a:ext cx="2952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CDEBA-22C9-417E-8EAA-2B97FFE8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0497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0.7467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ACF0D-EDDF-4120-B949-DC564F65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14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highest NDCG@10: Gradient Boosting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A5CA3-9C3E-4A34-8A46-2A4A32D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914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E905A-F9D1-4E71-9D08-263F72B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PREDICTION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21FD0-810B-4D0D-BBBB-E093FB75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Near tie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EF002-175D-4E74-8F90-E7569F0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533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XGBoost differs from LightGBM by only 0.00002 in mean RMSE. This benchmark does not test whether that gap is statistically meaningful.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7D403-9DCA-4FA8-AD9A-ACD1604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4914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FBB45-C3DA-4201-952C-9B2615F9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2864A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864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864A5"/>
                </a:solidFill>
                <a:latin typeface="Helvetica Neue"/>
                <a:ea typeface="Helvetica Neue"/>
                <a:cs typeface="Helvetica Neue"/>
              </a:rPr>
              <a:t>RECOMMENDATION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45AE3-0B10-42FF-B9D6-BFFA8F11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7100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2864A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864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864A5"/>
                </a:solidFill>
                <a:latin typeface="Helvetica Neue"/>
                <a:ea typeface="Helvetica Neue"/>
                <a:cs typeface="Helvetica Neue"/>
              </a:rPr>
              <a:t>Different objective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3C187-3310-47DE-A0D0-A602BAF1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4533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Gradient Boosting ranks first on NDCG@10 despite higher RMSE. Top-N ordering and per-candidate probability-like fit reward different behaviour.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6F54A-8171-451B-8F21-A316A078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rPr>
              <a:t>Treat the ranking scores as offline signals—not evidence of customer impact or production readiness.</a:t>
            </a:r>
          </a:p>
        </p:txBody>
      </p:sp>
    </p:spTree>
    <p:extLst>
      <p:ext uri="{BB962C8B-B14F-4D97-AF65-F5344CB8AC3E}">
        <p14:creationId xmlns:p14="http://schemas.microsoft.com/office/powerpoint/2010/main" val="9857204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57ADD-5F2E-454A-8F86-83415202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E5445-F29C-4351-8B54-B443625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VALIDITY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A8BEF-193E-47C1-9A90-5D55C5FA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Limits on what this benchmark can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17992-3710-41E0-8B2D-C227E88D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6DA4B-E950-4674-A513-013DAB13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F2F6D-4277-4B83-9A45-19D8936D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1B4FD-B68D-453C-BAF1-0480C52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69753-F27A-4311-9007-95CB376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95425"/>
            <a:ext cx="1011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Negative labels are sampled unseen pairs; item exposure is unknown.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56292-A376-4D8C-AF05-EB3A9C8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3021D-2B68-427E-ABF6-38D0214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76475"/>
            <a:ext cx="1011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Most raw events lack user IDs; retained users may not represent all shoppers.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3726D-EEA1-4E7F-9AE0-1F2BB4B5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6DA66-CE43-4F92-B8E1-4E9ED45D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1011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The transaction extract is from 2020 and has no availability or impression logs.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42FE8-7BA7-4404-A71B-D8F63F14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1D450-A7D0-4C34-83B5-2C56FC9E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011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No extensive hyperparameter tuning, significance test, online A/B test, or external dataset validation.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F4325-FF9D-4E2F-B42C-06A24168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F5CBB-305D-491B-B76E-C7B625B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11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The source does not document price currency or confirm cohort-level uniqueness.</a:t>
            </a:r>
          </a:p>
        </p:txBody>
      </p:sp>
    </p:spTree>
    <p:extLst>
      <p:ext uri="{BB962C8B-B14F-4D97-AF65-F5344CB8AC3E}">
        <p14:creationId xmlns:p14="http://schemas.microsoft.com/office/powerpoint/2010/main" val="441623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27109-A3CC-4F75-8AFD-8CE6553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05FD6-DADE-4275-94F2-F42D4F10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C855F-AFE5-41F5-98DA-E9649DEE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Conclusion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27485-5BAA-428E-A93A-24E6BA3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26FC9-FB2B-41BD-B604-D087F66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98BD9-94B0-4F46-9081-D17430ED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3507C-61C8-41CE-8D4F-FD2AAA3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LightGBM and XGBoost produced the strongest RMSE results; Gradient Boosting achieved the highest NDCG@10.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A1B60-5597-4CF5-B1D4-20815E0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0289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9CC47-8BF4-4C29-A1C2-3661773D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E6EC8-9CD5-4911-ABDC-F7D46F6A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Improve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3F693-DC63-4197-979F-C886EC0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Use impression logs and explicit exposure so “not clicked / not purchased” is better defined.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A724C-E556-41F0-98E6-8CDB491F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30289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BB3F4-CD00-4F26-A838-F5C34407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146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PROTOCOL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AB115-8D64-4275-A4B0-991E05AA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813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Broaden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C90E7-1D9E-4123-8DD9-BD2C8E22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195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Test temporal rolling windows, a fuller candidate set, and tuned baselines.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FECB5-8D04-4476-8F0D-B9CF900D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0289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22FE2-229D-4FEC-8C66-B23D181A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GENERALIZATION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B05AC-CC82-4C13-886F-A7028891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Check 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35096-426F-4231-8CFD-7598DD18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Validate on a newer Kazakhstan dataset and investigate cold-start behaviour.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9F61E-EF23-4AD7-9B30-8C439F64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096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F0D4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C59F5-5AF4-4AB2-8F25-83DB55F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578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17B0F"/>
                </a:solidFill>
                <a:latin typeface="Helvetica Neue"/>
                <a:ea typeface="Helvetica Neue"/>
                <a:cs typeface="Helvetica Neue"/>
              </a:rPr>
              <a:t>Before submission: instructor must confirm cohort dataset uniqueness and applicable AI policy.</a:t>
            </a:r>
          </a:p>
        </p:txBody>
      </p:sp>
    </p:spTree>
    <p:extLst>
      <p:ext uri="{BB962C8B-B14F-4D97-AF65-F5344CB8AC3E}">
        <p14:creationId xmlns:p14="http://schemas.microsoft.com/office/powerpoint/2010/main" val="1313089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BD63B-3BAF-46C4-B294-BF1168E9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96747-8BDF-4D8D-9AF4-AA480D4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DA04A-9529-4EFE-90FB-CEF18001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Selected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A9EA2-DCF8-4D6D-853E-76E5D7CC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F2CD0-7F1B-412D-AA89-94005C71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2841E-A0DC-412F-841B-0A3D304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4A6B9-C55C-4FBA-B430-577CC288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[1] Kazakhstan BNS (2024), E-commerce in Kazakhstan (2023); Ministry of Trade (2026), E-commerce market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D3A11-5443-4321-9977-EA57D4D3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[2] Kechinov. eCommerce purchase history from electronics store. Kaggle dataset.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81668-4C47-45CC-880C-0BF17FA3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[3] Necula &amp; Păvăloaia (2023). AI-driven recommendations: systematic review. Applied Sciences, 13(9), 5531.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2C25B-5E1F-45B1-BC5F-2E84731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[4] Zangerle &amp; Bauer (2022). Evaluating recommender systems: survey and framework. ACM Computing Surveys, 55(8).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02403-A07D-4B68-B25F-A9C96FF2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[5] Jain &amp; Jindal (2023). Sampling and noise filtering in recommender systems. Engineering Applications of AI, 122.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E2838-71F0-4C16-963F-3FA28FF6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[6] Yalcin &amp; Bilge (2022). Evaluating popularity bias. Information Processing &amp; Management, 59(6).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8FE2F-CFD5-4EE1-ABE8-EAC50B67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[7] Chen et al. (2023). Revisiting negative sampling vs. non-sampling. ACM TOIS, 41(1).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FA9CF-B920-4408-9F3A-9B86A25B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[8] Hidasi &amp; Czapp (2023). Widespread flaws in offline evaluation. RecSys, pp. 848–855.</a:t>
            </a:r>
          </a:p>
        </p:txBody>
      </p:sp>
    </p:spTree>
    <p:extLst>
      <p:ext uri="{BB962C8B-B14F-4D97-AF65-F5344CB8AC3E}">
        <p14:creationId xmlns:p14="http://schemas.microsoft.com/office/powerpoint/2010/main" val="331348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E7251-5C6A-4E65-A23F-99489F39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FBDFF-030F-4534-B869-B8946095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DABFA-85C6-40B5-8BF8-1E724FD0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References and research transparency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E5CFD-3B5A-45BF-A00A-CCCC11BC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09BD2-ED4B-462A-80DE-632F5B46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Kazakhstan e-commerce • implicit-feedback recommendation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0CDA9-D649-49B3-9860-CC2A1E6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57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8ACE0-B61B-4B81-8FC5-85671A22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430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[9] Zhao et al. (2023). Appropriate offline evaluation for top-N recommendation. ACM TOIS, 41(2).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6ECB7-17AE-4DF8-AFF5-185244E0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[10] Gusak et al. (2025). Time to split: strategies for offline evaluation. RecSys, pp. 874–883.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0EDD4-6AA9-469A-A9A3-1C85B740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[11] Klimashevskaia et al. (2024). Survey on popularity bias. User Modeling and User-Adapted Interaction, 34.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76203-24B2-491C-BDD4-985F6BD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[12] Ekstrand et al. (2024). Distributionally-informed recommender system evaluation. ACM TORS, 2(1).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4A604-0BC6-4892-A762-02F13C8C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[13] Chen &amp; Guestrin (2016). XGBoost: A scalable tree boosting system. KDD, pp. 785–794.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03F4D-3EDD-474A-98F9-3B409F4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[14] Ke et al. (2017). LightGBM: Efficient gradient boosting decision tree. NeurIPS, 30.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0A43B-A0A0-42A6-9A27-09C84C56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[15] Prokhorenkova et al. (2018). CatBoost: Unbiased boosting with categorical features. NeurIPS, 31.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FB275-980A-4ECA-BD7E-18004977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8F3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97F81-8C7C-4419-A6E2-3163A3C6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Transparency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85B46-9A0B-4AC1-A0E6-B29B8500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05425"/>
            <a:ext cx="971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AI assistance was used in preparing this draft, code, and slides. No similarity score was measured. Verify citations, dataset licensing and cohort uniqueness, and follow the course AI policy.</a:t>
            </a:r>
          </a:p>
        </p:txBody>
      </p:sp>
    </p:spTree>
    <p:extLst>
      <p:ext uri="{BB962C8B-B14F-4D97-AF65-F5344CB8AC3E}">
        <p14:creationId xmlns:p14="http://schemas.microsoft.com/office/powerpoint/2010/main" val="1239206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2026-10-13T11:51:12.5520000Z</dcterms:created>
  <dcterms:modified xsi:type="dcterms:W3CDTF">2026-10-13T11:51:12.5520000Z</dcterms:modified>
</coreProperties>
</file>